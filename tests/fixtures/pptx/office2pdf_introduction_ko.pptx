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8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181C"/>
                </a:solidFill>
                <a:latin typeface="Calibri"/>
              </a:rPr>
              <a:t>포맷별 지원 요소 수 (README 기준, 단위: 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텍스트 · 서식</c:v>
                </c:pt>
              </c:strCache>
            </c:strRef>
          </c:tx>
          <c:spPr>
            <a:solidFill>
              <a:srgbClr val="CE4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DOCX</c:v>
                  </c:pt>
                  <c:pt idx="1">
                    <c:v>PPTX</c:v>
                  </c:pt>
                  <c:pt idx="2">
                    <c:v>XLSX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표 · 그리드</c:v>
                </c:pt>
              </c:strCache>
            </c:strRef>
          </c:tx>
          <c:spPr>
            <a:solidFill>
              <a:srgbClr val="E897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DOCX</c:v>
                  </c:pt>
                  <c:pt idx="1">
                    <c:v>PPTX</c:v>
                  </c:pt>
                  <c:pt idx="2">
                    <c:v>XLSX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그래픽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DOCX</c:v>
                  </c:pt>
                  <c:pt idx="1">
                    <c:v>PPTX</c:v>
                  </c:pt>
                  <c:pt idx="2">
                    <c:v>XLSX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문서 구조</c:v>
                </c:pt>
              </c:strCache>
            </c:strRef>
          </c:tx>
          <c:spPr>
            <a:solidFill>
              <a:srgbClr val="B9C0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DOCX</c:v>
                  </c:pt>
                  <c:pt idx="1">
                    <c:v>PPTX</c:v>
                  </c:pt>
                  <c:pt idx="2">
                    <c:v>XLSX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718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7181C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7181C"/>
                </a:solidFill>
                <a:latin typeface="Calibri"/>
              </a:rPr>
              <a:t>정성 평가 (5점 = 가장 유리)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office2pdf</c:v>
                </c:pt>
              </c:strCache>
            </c:strRef>
          </c:tx>
          <c:spPr>
            <a:solidFill>
              <a:srgbClr val="CE422B"/>
            </a:solidFill>
            <a:ln w="31750" cap="flat">
              <a:solidFill>
                <a:srgbClr val="CE422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E422B"/>
              </a:solidFill>
              <a:ln w="9525" cap="flat">
                <a:solidFill>
                  <a:srgbClr val="CE4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배포 단순성</c:v>
                  </c:pt>
                  <c:pt idx="1">
                    <c:v>기동 지연 최소화</c:v>
                  </c:pt>
                  <c:pt idx="2">
                    <c:v>의존성 최소화</c:v>
                  </c:pt>
                  <c:pt idx="3">
                    <c:v>이식성</c:v>
                  </c:pt>
                  <c:pt idx="4">
                    <c:v>서식 커버리지 폭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LibreOffice headless</c:v>
                </c:pt>
              </c:strCache>
            </c:strRef>
          </c:tx>
          <c:spPr>
            <a:solidFill>
              <a:srgbClr val="5B6472"/>
            </a:solidFill>
            <a:ln w="31750" cap="flat">
              <a:solidFill>
                <a:srgbClr val="5B647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배포 단순성</c:v>
                  </c:pt>
                  <c:pt idx="1">
                    <c:v>기동 지연 최소화</c:v>
                  </c:pt>
                  <c:pt idx="2">
                    <c:v>의존성 최소화</c:v>
                  </c:pt>
                  <c:pt idx="3">
                    <c:v>이식성</c:v>
                  </c:pt>
                  <c:pt idx="4">
                    <c:v>서식 커버리지 폭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헤드리스 브라우저</c:v>
                </c:pt>
              </c:strCache>
            </c:strRef>
          </c:tx>
          <c:spPr>
            <a:solidFill>
              <a:srgbClr val="B9C0CA"/>
            </a:solidFill>
            <a:ln w="31750" cap="flat">
              <a:solidFill>
                <a:srgbClr val="B9C0C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9C0CA"/>
              </a:solidFill>
              <a:ln w="9525" cap="flat">
                <a:solidFill>
                  <a:srgbClr val="B9C0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배포 단순성</c:v>
                  </c:pt>
                  <c:pt idx="1">
                    <c:v>기동 지연 최소화</c:v>
                  </c:pt>
                  <c:pt idx="2">
                    <c:v>의존성 최소화</c:v>
                  </c:pt>
                  <c:pt idx="3">
                    <c:v>이식성</c:v>
                  </c:pt>
                  <c:pt idx="4">
                    <c:v>서식 커버리지 폭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8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언어 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E4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9C0C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Rust</c:v>
                </c:pt>
                <c:pt idx="1">
                  <c:v>기타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99.5</c:v>
                </c:pt>
                <c:pt idx="1">
                  <c:v>0.5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발표는 오픈소스 프로젝트 office2pdf를 기술 관점에서 소개한다. 핵심 메시지는 "외부 런타임 의존성 없이 단일 바이너리로 OOXML 문서를 PDF로 변환한다"는 것이다. 라이선스는 Apache-2.0, 최신 릴리스는 v0.6.0이다.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5개 블록으로 구성한다. PART 1~2는 내부 구조와 지원 범위, PART 3은 실제 통합 코드, PART 4는 도입 판단 기준을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변환 난이도의 본질은 파일 파싱이 아니라 조판 재현이다. 폰트 해석과 레이아웃 재계산이 품질을 결정하며, 이 때문에 대부분의 도구가 오피스 스위트나 브라우저 엔진을 그대로 재사용한다.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핵심은 마지막 행이다. 기존 스택은 "무거운 런타임을 재사용해 서식 충실도를 확보"하는 반면, office2pdf는 "런타임을 제거하고 서식 커버리지를 직접 구현"하는 반대 방향의 선택을 했다. 따라서 트레이드오프는 배포 단순성 ↔ 서식 커버리지 범위가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개의 숫자로 프로젝트를 요약한다. 외부 런타임 0개, 입력 포맷 3종, 실행 형태는 라이브러리·CLI·브라우저 WASM·Node.js WASM이다.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설계 선택이 서로 맞물린다. 순수 Rust와 Typst 임베딩이 무의존 배포를 가능하게 하고, 그 결과 라이브러리·CLI·WASM으로 동일 코어를 재사용할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1에서는 저장소 구조와 데이터 흐름을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파이프라인의 특징은 두 가지다. 첫째, 중간 포맷이 없어 서식 손실 지점이 줄어든다. 둘째, 외부 프로세스를 띄우지 않으므로 동시성 처리와 리소스 관리가 단순하다. DOCX와 XLSX 파싱은 각각 docx-rs, umya-spreadsheet 계열 크레이트를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워크스페이스는 라이브러리와 CLI로 나뉜다. 라이브러리를 직접 의존해 서비스에 임베드하거나, CLI 바이너리만 배포하는 두 가지 도입 경로가 모두 가능하다. 툴체인은 Rust 1.89 이상이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Typst 선택의 이점과 대가를 함께 설명한다. 이점은 임베딩 가능성과 짧은 변환 경로, 대가는 서식 매핑을 직접 구현해야 한다는 점이다. 도입 검토 시에는 실제 문서 샘플로 커버리지를 확인하는 절차가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의존성 전략은 프로젝트의 성숙도를 보여주는 지표다. 업스트림 크레이트를 그대로 쓰지 않고 panic 안전성과 파싱 관용성을 보강한 포크를 patch.crates-io로 치환했다. 서버 사이드 변환에서는 이 두 항목이 가용성에 직접 영향을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2에서는 포맷별로 어떤 서식 요소가 변환되는지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DOCX는 세 포맷 중 지원 요소가 가장 넓다. 특히 머리글·바닥글과 페이지 설정이 지원되므로, 인쇄를 전제로 한 문서 출력에 바로 쓸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XLSX는 시트 선택 옵션이 있어 대형 통합문서에서 필요한 시트만 변환할 수 있다. 조건부 서식 지원은 지표 리포트 변환에서 판독 정확성을 좌우한다.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PPTX는 마스터 상속과 테마 기반 표 스타일을 지원한다는 점이 특징이다. 임베디드 폰트 자동 추출은 사내 서체를 사용한 자료 변환에서 큰 이점이다.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병합 셀 헤더로 구성했다. XLSX의 그래픽 범주만 해당 항목이 없으며, 나머지는 세 포맷 모두 고르게 지원된다. 마지막 각주가 중요하다 — 지원 목록은 README 기준이며 전체 스펙 커버리지를 의미하지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차트는 README 기능 목록을 4개 범주로 분류해 누적 막대로 표현한 것이다. 항목 수는 완성도가 아니라 지원 범위의 분포를 보여주는 지표로만 해석해야 한다. DOCX는 텍스트, PPTX는 그래픽, XLSX는 구조에 무게가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3은 실제 코드 중심이다. 라이브러리, CLI, WASM 순서로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라이브러리 통합의 최소 형태를 보여준다. 실제 서비스 코드에서는 unwrap 대신 Result 전파를 사용하고, 변환 실패를 요청 단위로 처리하는 것이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공개 API의 사용 지점을 구분한다. 업로드 스트림을 그대로 변환하는 웹 서비스에서는 convert_bytes가 기본 선택이며, 임시 파일 생성과 정리 로직을 제거할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CLI는 도입 장벽이 가장 낮은 경로다. 기존 파이프라인에서 soffice 호출을 대체하는 형태로 점진적 전환이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옵션 표는 README의 CLI Options 절과 동일하다. 적용 범위 열은 포맷별 플래그를 구분하기 위해 추가한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WASM 경로는 이 프로젝트의 차별점이다. 오피스 스위트나 브라우저 렌더러에 의존하지 않기 때문에 변환 코어 전체를 WebAssembly로 컴파일할 수 있다. 문서를 서버로 보내지 않아도 되는 요구사항이 있는 조직에서 특히 유용하다.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폰트는 변환 품질에서 가장 흔한 실패 원인이다. 이 프로젝트는 문서 임베디드 폰트를 자동 추출·역난독화하고, macOS에서는 오피스 번들 폰트와 클라우드 캐시까지 탐색한다. 리눅스 서버 배포 시에는 필요한 서체를 이미지에 포함하거나 --font-path로 지정하는 절차를 표준화해 두는 것을 권장한다.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PDF/A-2b는 아카이빙 규격이다. 플래그 하나로 적용되지만, 규정 대응이 목적이라면 산출물을 별도 검증 도구로 확인하는 절차를 파이프라인에 포함해야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4는 도입 판단을 위한 정보다. 정성 비교와 시나리오, 현황을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반드시 강조할 점: 레이더 차트의 점수는 벤치마크가 아니라 정성 평가다. office2pdf는 배포·기동·의존성·이식성에서 유리하고, 임의 문서에 대한 서식 커버리지 폭에서는 성숙한 오피스 스위트가 여전히 넓다. 따라서 워크로드 성격에 따라 선택하거나 병행하는 것이 현실적이다.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시나리오는 모두 "외부 런타임을 설치하거나 상주시키기 어려운 환경"이라는 공통점을 가진다. 반대로, 임의 사용자 문서를 최대 충실도로 변환하는 범용 변환 서비스라면 기존 스택과의 병행 구성을 검토하는 편이 안전하다.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프로젝트는 Rust 단일 언어로 구성되어 있고 릴리스가 꾸준히 이어지고 있다. 도입 체크리스트 세 가지는 실무에서 반드시 필요한 항목이다: 표본 문서 회귀 검증, 폰트 배포 정책, 버전 고정 및 갱신 절차.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마무리에서는 세 가지 메시지를 다시 정리한다. 외부 런타임 제거, 세 가지 통합 경로, 운영 친화적 세부 기능. 이어서 저장소·패키지·API 문서 링크를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office2pdf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4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eloper0hye/office2pdf" TargetMode="Externa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7-1.png"/><Relationship Id="rId3" Type="http://schemas.openxmlformats.org/officeDocument/2006/relationships/image" Target="../media/image-27-2.png"/><Relationship Id="rId4" Type="http://schemas.openxmlformats.org/officeDocument/2006/relationships/image" Target="../media/image-27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9-1.png"/><Relationship Id="rId3" Type="http://schemas.openxmlformats.org/officeDocument/2006/relationships/image" Target="../media/image-29-2.png"/><Relationship Id="rId4" Type="http://schemas.openxmlformats.org/officeDocument/2006/relationships/image" Target="../media/image-29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eloper0hye/office2pdf" TargetMode="External"/><Relationship Id="rId4" Type="http://schemas.openxmlformats.org/officeDocument/2006/relationships/hyperlink" Target="https://crates.io/crates/office2pdf" TargetMode="External"/><Relationship Id="rId5" Type="http://schemas.openxmlformats.org/officeDocument/2006/relationships/hyperlink" Target="https://docs.rs/office2pdf" TargetMode="External"/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rust_r.png">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 rot="360000">
            <a:off x="8732520" y="320040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RUST · DOCUMENT ENGINE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office2pdf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XLSX · PPTX → PDF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LibreOffice도, Chromium도, Docker도 필요 없는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Typst 기반 순수 Rust 변환 엔진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68680" y="4800600"/>
            <a:ext cx="274320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0292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developer0hye/office2pdf</a:t>
            </a:r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Apache-2.0   ·   최신 릴리스 v0.6.0 (2026-06-01)</a:t>
            </a:r>
            <a:endParaRPr lang="en-US" sz="1250" dirty="0"/>
          </a:p>
        </p:txBody>
      </p:sp>
      <p:sp>
        <p:nvSpPr>
          <p:cNvPr id="9" name="Text 6">
            <a:hlinkClick r:id="rId3" tooltip="GitHub 저장소"/>
          </p:cNvPr>
          <p:cNvSpPr/>
          <p:nvPr/>
        </p:nvSpPr>
        <p:spPr>
          <a:xfrm>
            <a:off x="822960" y="53492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GitHub 저장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github.com/developer0hye/office2pdf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구성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→ 아키텍처 → 지원 포맷 → 통합 방법 → 도입 검토 순으로 진행한다.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00200" y="1956816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8" name="Image 0" descr="assets/ic_war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854" y="2069470"/>
            <a:ext cx="177028" cy="1770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정의와 기존 접근의 한계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94560" y="21671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OOXML 변환 스택이 무거워지는 구조적 원인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77063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600200" y="2825496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4" name="Image 1" descr="assets/ic_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54" y="2938150"/>
            <a:ext cx="177028" cy="1770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2770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아키텍처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194560" y="30358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워크스페이스, 변환 파이프라인, Typst 백엔드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5204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36393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1600200" y="3694176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0" name="Image 2" descr="assets/ic_lay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54" y="3806830"/>
            <a:ext cx="177028" cy="1770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94560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지원 포맷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194560" y="390448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XLSX / PPTX 지원 범위와 커버리지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3891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450799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1600200" y="4562856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6" name="Image 3" descr="assets/ic_plu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854" y="4675510"/>
            <a:ext cx="177028" cy="1770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94560" y="4507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통합 방법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2194560" y="47731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· CLI · WASM 세 가지 인터페이스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68680" y="53766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1600200" y="5431536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32" name="Image 4" descr="assets/ic_balanc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854" y="5544190"/>
            <a:ext cx="177028" cy="17702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5376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도입 검토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2194560" y="56418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특성, 활용 시나리오, 프로젝트 현황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문서를 PDF로 변환하는 일은 왜 어려운가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포맷 변환이 아니라, 조판(typesetting) 결과를 재현하는 문제이기 때문이다.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6" name="Image 0" descr="assets/ic_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40" y="212470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OOXML 스펙의 규모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63040" y="22037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ECMA-376 기반 DOCX/XLSX/PPTX는 수천 페이지 규모의 스펙과 사실상의 구현 관례가 공존한다.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017520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0" name="Image 1" descr="assets/ic_fon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40" y="3176260"/>
            <a:ext cx="249448" cy="249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9260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의존성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463040" y="32552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문서에 임베드된 폰트, 시스템 폰트, 클라우드 폰트 캐시가 뒤섞여 동일 문서가 환경마다 다르게 조판된다.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069080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4" name="Image 2" descr="assets/ic_rul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40" y="4227820"/>
            <a:ext cx="249448" cy="249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9776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재현성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463040" y="43068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줄바꿈, 표 열 폭, 도형 좌표(EMU)를 재계산해야 원본과 동일한 페이지 분할이 나온다.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" y="5120640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8" name="Image 3" descr="assets/ic_serv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0" y="5279380"/>
            <a:ext cx="249448" cy="2494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50292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환경 제약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463040" y="53583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컨테이너·서버리스 환경에서는 GUI 오피스 스위트나 브라우저 런타임을 상주시키기 어렵다.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접근의 한계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변환 스택별 트레이드오프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방식은 대체로 "무거운 런타임을 그대로 재사용"하는 전략을 택한다.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874520"/>
                <a:gridCol w="310896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 스택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단위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 특성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제약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LibreOffice headless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soffice --convert-to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오피스 스위트 전체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수백 MB급 설치 + 프로파일 디렉터리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프로세스 상태 의존, 동시 변환 시 격리 필요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헤드리스 브라우저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렌더 후 인쇄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Chromium 런타임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 바이너리 + 샌드박스 권한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OOXML → HTML 중간 변환에서 서식 손실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클라우드 변환 API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호출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서비스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 부담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외부 전송, 네트워크·비용·보안 검토 필요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상용 SDK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네이티브 라이브러리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벤더 라이브러리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플랫폼별 바이너리 배포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라이선스 비용과 벤더 종속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office2pdf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C9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Pure-Rust + Typst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42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실행 파일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런타임 0개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 중심의 점진적 서식 커버리지 확장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각 스택의 배포 특성은 일반적인 구성 기준의 정성적 비교이며, 실제 수치는 환경과 옵션에 따라 달라진다.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office2pdf — 단일 바이너리 변환 엔진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DOCX·XLSX·PPTX를 PDF로 변환하는 순수 Rust 라이브러리 및 CLI. 조판은 Typst가 담당한다.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LibreOffice, no Chromium, no Docker — </a:t>
            </a:r>
            <a:pPr indent="0" marL="0">
              <a:buNone/>
            </a:pPr>
            <a:r>
              <a:rPr lang="en-US" sz="2100" b="1" i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a single binary</a:t>
            </a:r>
            <a:pPr indent="0" marL="0">
              <a:buNone/>
            </a:pPr>
            <a:r>
              <a:rPr lang="en-US" sz="2100" i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powered by Typst.”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README에 명시된 프로젝트 정의 — 변환 품질을 외부 런타임에 위임하지 않는다.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l" indent="0" marL="0">
              <a:buNone/>
            </a:pPr>
            <a:r>
              <a:rPr lang="en-US" sz="18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개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런타임 의존성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(오피스 스위트·브라우저·컨테이너 불필요)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l" indent="0" marL="0">
              <a:buNone/>
            </a:pPr>
            <a:r>
              <a:rPr lang="en-US" sz="18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종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11480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OOXML 입력 포맷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XLSX · PPTX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algn="l" indent="0" marL="0">
              <a:buNone/>
            </a:pPr>
            <a:r>
              <a:rPr lang="en-US" sz="18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채널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4066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형태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· CLI · WASM(Browser·Node.js)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749040"/>
            <a:ext cx="0" cy="118872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749040"/>
            <a:ext cx="0" cy="118872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 가지 설계 선택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선택은 "서버에서 안전하게 돌아가는 문서 변환"이라는 목표에서 파생된다.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21408"/>
            <a:ext cx="603504" cy="60350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7" name="Image 0" descr="assets/ic_rus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01" y="2290389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57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Rust 구현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7552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안전성과 정적 링크의 이점을 그대로 활용한다. edition 2024 · rust-version 1.89 기준으로 워크스페이스를 구성한다.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121408"/>
            <a:ext cx="603504" cy="60350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2" name="Image 1" descr="assets/ic_feath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01" y="2290389"/>
            <a:ext cx="265542" cy="2655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57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Typst 조판 백엔드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02552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조판과 PDF 생성을 Rust 네이티브 조판 엔진 Typst에 위임하여, 별도 프린터 파이프라인이나 브라우저 렌더러를 두지 않는다.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270248"/>
            <a:ext cx="603504" cy="60350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7" name="Image 2" descr="assets/ic_bo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01" y="4439229"/>
            <a:ext cx="265542" cy="2655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무의존 배포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87552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실행 파일로 동작한다. 컨테이너 이미지 최소화, 서버리스 패키징, 오프라인 설치가 모두 단순해진다.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3977640"/>
            <a:ext cx="5166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270248"/>
            <a:ext cx="603504" cy="60350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2" name="Image 3" descr="assets/ic_plu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01" y="4439229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인터페이스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702552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변환 코어를 라이브러리(crates.io), CLI, WebAssembly 세 경로로 노출하여 통합 지점을 선택할 수 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sitemap_r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 rot="480000">
            <a:off x="9326880" y="14173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657600"/>
            <a:ext cx="100584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워크스페이스 구성, 변환 파이프라인, 그리고 Typst를 선택한 이유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4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파이프라인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OOXML에서 PDF까지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컨테이너 해석 → 문서 모델 구성 → Typst 조판 → PDF 직렬화의 단방향 흐름이다.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130552" cy="1051560"/>
          </a:xfrm>
          <a:prstGeom prst="chevron">
            <a:avLst/>
          </a:prstGeom>
          <a:solidFill>
            <a:srgbClr val="24262D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6" name="Image 0" descr="assets/ic_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2121408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컨테이너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패키지 해제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파트·관계(rels) 수집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25496" y="1965960"/>
            <a:ext cx="2130552" cy="1051560"/>
          </a:xfrm>
          <a:prstGeom prst="chevron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0" name="Image 1" descr="assets/ic_cod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21284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38728" y="2121408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OOXML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35224" y="31546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DOCX: docx-rs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XLSX: umya-spreadsheet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PPTX: 슬라이드·마스터·테마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10912" y="1965960"/>
            <a:ext cx="2130552" cy="1051560"/>
          </a:xfrm>
          <a:prstGeom prst="chevron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4" name="Image 2" descr="assets/ic_lay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21284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24144" y="2121408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모델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20640" y="31546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단락·표·도형·셀 서식을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표현으로 통일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96328" y="1965960"/>
            <a:ext cx="2130552" cy="1051560"/>
          </a:xfrm>
          <a:prstGeom prst="chevron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8" name="Image 3" descr="assets/ic_feath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21284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09560" y="2121408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306056" y="31546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계산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셰이핑·줄바꿈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381744" y="1965960"/>
            <a:ext cx="2130552" cy="1051560"/>
          </a:xfrm>
          <a:prstGeom prst="roundRect">
            <a:avLst>
              <a:gd name="adj" fmla="val 5217"/>
            </a:avLst>
          </a:prstGeom>
          <a:solidFill>
            <a:srgbClr val="CE422B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2" name="Image 4" descr="assets/ic_pdf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221284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85248" y="2121408"/>
            <a:ext cx="1399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491472" y="31546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또는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PDF/A-2b 직렬화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" y="43434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4400" y="4526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산출물이 없다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14400" y="48646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HTML·PostScript 같은 중간 포맷을 거치지 않으므로, 중간 변환 단계에서 발생하는 서식 손실 지점이 존재하지 않는다.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72200" y="43434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46520" y="4526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경계를 넘지 않는다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446520" y="48646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프로세스 호출과 임시 프로파일 디렉터리가 없어, 동시 변환 시의 상태 격리 문제를 구조적으로 회피한다.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구조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 워크스페이스 구성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코어(라이브러리)와 실행 진입점(CLI)을 분리한 2-크레이트 워크스페이스다.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852160" cy="2331720"/>
          </a:xfrm>
          <a:prstGeom prst="roundRect">
            <a:avLst>
              <a:gd name="adj" fmla="val 2353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20824"/>
            <a:ext cx="544982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[workspace]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 = [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"crates/office2pdf",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"crates/office2pdf-cli",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[workspace.package]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edition     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"2024"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rust-version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"1.89"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     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"Apache-2.0"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2702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Cargo.toml — 워크스페이스 루트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187452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95160" y="2075688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0" name="Image 0" descr="assets/ic_cu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76" y="220370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71232" y="2057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crates/office2pdf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04304" y="2423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코어 라이브러리. convert / convert_with_options / convert_bytes API와 wasm 피처를 제공한다.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66560" y="310896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3310128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5" name="Image 1" descr="assets/ic_termina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343814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71232" y="3291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crates/office2pdf-cli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004304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명령행 진입점. 파일 인자 파싱, 배치 변환, 출력 경로 및 옵션 플래그를 처리한다.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환경 요구사항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2024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</a:t>
            </a:r>
            <a:pPr indent="0" marL="0">
              <a:buNone/>
            </a:pPr>
            <a:r>
              <a:rPr lang="en-US" sz="12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3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사용하므로 </a:t>
            </a:r>
            <a:pPr indent="0" marL="0">
              <a:buNone/>
            </a:pPr>
            <a:r>
              <a:rPr lang="en-US" sz="12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1.89 이상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툴체인이 필요하다. CI에서 최소 지원 버전을 고정해 두면 의존성 갱신 시 회귀를 조기에 감지할 수 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조판 백엔드로 Typst를 선택했는가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 엔진을 프로세스로 호출하지 않고 라이브러리로 임베드할 수 있다는 점이 핵심이다.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30552"/>
            <a:ext cx="475488" cy="47548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7" name="Image 0" descr="assets/ic_rus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7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93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네이티브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25146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 엔진이 Rust로 작성되어 동일 크레이트 그래프에 포함된다. FFI 경계나 별도 런타임 설치가 필요하지 않다.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130552"/>
            <a:ext cx="475488" cy="47548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2" name="Image 1" descr="assets/ic_pdf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37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93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직접 생성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47688" y="25146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 결과를 PDF로 직접 직렬화한다. PostScript·HTML 등 중간 표현을 경유하지 않으므로 변환 단계가 짧다.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42900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3685032"/>
            <a:ext cx="475488" cy="475488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7" name="Image 2" descr="assets/ic_fo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3818169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648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제어 가능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32688" y="4069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탐색 경로를 호출 측에서 주입할 수 있어, 문서 임베디드 폰트와 시스템 폰트를 일관된 규칙으로 해석한다.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342900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29400" y="3685032"/>
            <a:ext cx="475488" cy="475488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2" name="Image 3" descr="assets/ic_rul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537" y="3818169"/>
            <a:ext cx="209215" cy="2092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648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 레이아웃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647688" y="4069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입력과 동일 폰트 집합에 대해 동일한 조판 결과를 얻기 쉬워, 회귀 테스트와 픽셀 비교 검증에 유리하다.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트레이드오프  </a:t>
            </a:r>
            <a:pPr indent="0" marL="0">
              <a:buNone/>
            </a:pPr>
            <a:r>
              <a:rPr lang="en-US" sz="1250" dirty="0">
                <a:solidFill>
                  <a:srgbClr val="D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 엔진을 직접 구동하는 만큼, OOXML의 모든 서식 기능은 변환 계층에서 하나씩 매핑해야 한다. 서식 커버리지는 릴리스와 함께 점진적으로 확장되는 구조다.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전략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파싱 계층의 안정성을 포크로 확보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서버에서 동작하는 변환기는 잘못된 입력에도 프로세스를 죽이지 않아야 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20824"/>
            <a:ext cx="104790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[patch.crates-io]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umya-spreadsheet = { git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"https://github.com/developer0hye/umya-spreadsheet.git"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branch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"fix/panic-safety-v2"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docx-rs = { git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"https://github.com/developer0hye/docx-rs.git"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branch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"fix/parse-tolerance"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3558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Cargo.toml — 업스트림 크레이트를 포크로 치환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840480"/>
            <a:ext cx="548640" cy="54864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0" name="Image 0" descr="assets/ic_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399409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4208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안전성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64208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umya-spreadsheet · fix/panic-safety-v2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78408" y="4526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파싱 중 인덱스 초과나 예상치 못한 구조에서 panic이 발생하면 변환 요청 단위가 아니라 프로세스 전체가 영향을 받는다. 포크 브랜치는 이러한 실패 지점을 오류 반환으로 전환하는 데 초점을 둔다.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3840480"/>
            <a:ext cx="548640" cy="54864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6" name="Image 1" descr="assets/ic_magic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39" y="399409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9208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관용성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79208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docx-rs · fix/parse-tolerance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693408" y="4526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문서는 스펙을 완전히 준수하지 않는 경우가 많다. 알 수 없는 요소나 누락된 속성을 만나도 파싱을 중단하지 않고 최대한 복구하는 방향으로 관용성을 높인다.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layers_r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 rot="480000">
            <a:off x="9326880" y="14173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지원 포맷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657600"/>
            <a:ext cx="100584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XLSX · PPTX 각각의 지원 범위와 서식 커버리지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4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워드 문서 지원 범위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단락 서식과 표에서 시작해, 목록·코드 하이라이팅·페이지 설정까지 문서 구조 전반을 다룬다.</a:t>
            </a:r>
            <a:endParaRPr lang="en-US" sz="1350" dirty="0"/>
          </a:p>
        </p:txBody>
      </p:sp>
      <p:pic>
        <p:nvPicPr>
          <p:cNvPr id="5" name="Image 0" descr="assets/ic_word_r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0561320" y="50292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121408"/>
            <a:ext cx="512064" cy="51206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8" name="Image 1" descr="assets/ic_listo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78" y="226478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214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서식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50976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단락(paragraph) 단위 조판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서식: 굵게 · 기울임 · 밑줄 · 글자 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있는 목록과 중첩 목록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5112" y="187452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99432" y="2121408"/>
            <a:ext cx="512064" cy="51206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3" name="Image 2" descr="assets/ic_tab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10" y="2264786"/>
            <a:ext cx="225308" cy="2253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9512" y="21214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요소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36008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표(table) 렌더링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머리글(header) · 바닥글(footer)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용지 크기 · 방향 등 페이지 설정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0144" y="1874520"/>
            <a:ext cx="3502152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121408"/>
            <a:ext cx="512064" cy="51206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8" name="Image 3" descr="assets/ic_imag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842" y="2264786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24544" y="212140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 요소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32104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이미지 삽입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드로잉 도형(drawing shape)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구문 강조(syntax highlighting)된 코드 블록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템플릿, 계약서, 기술 문서와 같이 “서식이 고정된 대량 문서”를 서버에서 PDF로 확정 출력하는 워크로드에 적합하다.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스프레드시트 지원 범위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구조와 셀 서식은 물론, DataBar·IconSet 조건부 서식까지 시각적으로 재현한다.</a:t>
            </a:r>
            <a:endParaRPr lang="en-US" sz="1350" dirty="0"/>
          </a:p>
        </p:txBody>
      </p:sp>
      <p:pic>
        <p:nvPicPr>
          <p:cNvPr id="5" name="Image 0" descr="assets/ic_excel_r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0561320" y="50292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66544"/>
            <a:ext cx="438912" cy="43891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8" name="Image 1" descr="assets/ic_tabl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75" y="2189439"/>
            <a:ext cx="193121" cy="1931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구조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44752" y="2286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복수 시트 처리, --sheets 플래그로 대상 시트 선택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283464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8680" y="3026664"/>
            <a:ext cx="438912" cy="438912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3" name="Image 2" descr="assets/ic_brus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75" y="3149559"/>
            <a:ext cx="193121" cy="1931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44752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서식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444752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글꼴·정렬·배경 등 셀 수준 서식 반영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79476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3986784"/>
            <a:ext cx="438912" cy="43891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8" name="Image 3" descr="assets/ic_compres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" y="4109679"/>
            <a:ext cx="193121" cy="1931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44752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셀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44752" y="4206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cell 영역을 병합 상태로 조판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355080" y="187452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83680" y="2066544"/>
            <a:ext cx="438912" cy="438912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3" name="Image 4" descr="assets/ic_rule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575" y="2189439"/>
            <a:ext cx="193121" cy="1931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9752" y="2002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폭 · 행 높이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59752" y="2286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열 폭과 행 높이를 유지해 표 형태 보존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355080" y="2834640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583680" y="3026664"/>
            <a:ext cx="438912" cy="43891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28" name="Image 5" descr="assets/ic_filte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575" y="3149559"/>
            <a:ext cx="193121" cy="1931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59752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서식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159752" y="3246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DataBar(데이터 막대), IconSet(아이콘 집합) 지원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355080" y="379476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629400" y="40050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서식이 중요한 이유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629400" y="43434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스프레드시트는 값 자체보다 “값의 시각적 강조”가 의미를 전달하는 경우가 많다. DataBar와 IconSet이 누락되면 동일한 데이터라도 PDF에서 판독 결과가 달라진다. 지표 리포트를 PDF로 배포하는 워크플로에서 특히 중요한 지원 항목이다.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480060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14400" y="4983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통합문서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--sheets 플래그로 필요한 시트만 지정하면 불필요한 조판 비용 없이 변환 시간을 줄일 수 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프레젠테이션 지원 범위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마스터와 테마 기반 표 스타일, 그라디언트 배경, 그림자·반사 효과까지 처리한다.</a:t>
            </a:r>
            <a:endParaRPr lang="en-US" sz="1350" dirty="0"/>
          </a:p>
        </p:txBody>
      </p:sp>
      <p:pic>
        <p:nvPicPr>
          <p:cNvPr id="5" name="Image 0" descr="assets/ic_ppt_r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0561320" y="50292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965960"/>
            <a:ext cx="329184" cy="32918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슬라이드와 마스터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194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단위 페이지 구성, 슬라이드 마스터 상속 반영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715768"/>
            <a:ext cx="329184" cy="32918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상자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944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박스 위치·서식 조판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3465576"/>
            <a:ext cx="329184" cy="32918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3419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도형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694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도형(shape) 렌더링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" y="4215384"/>
            <a:ext cx="329184" cy="32918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4169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443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 기반 표 스타일(theme table style) 적용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0" y="1965960"/>
            <a:ext cx="329184" cy="32918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03720" y="1920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03720" y="2194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 내 이미지 배치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2715768"/>
            <a:ext cx="329184" cy="32918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03720" y="2670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그라디언트 배경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03720" y="2944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background 재현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0" y="3465576"/>
            <a:ext cx="329184" cy="32918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903720" y="34198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그림자 · 반사 효과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03720" y="3694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/ reflection effect 처리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00800" y="4215384"/>
            <a:ext cx="329184" cy="32918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903720" y="4169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노트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03720" y="4443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 변환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080760" y="1920240"/>
            <a:ext cx="0" cy="283464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5029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4400" y="5175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PPTX/DOCX에 임베드된 폰트는 자동으로 추출·역난독화되어 변환에 사용된다. 사내 서체가 임베드된 발표 자료도 별도 폰트 설치 없이 동일한 조판을 얻을 수 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매트릭스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포맷 × 서식 범주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README에 명시된 지원 항목을 네 가지 범주로 재구성한 표다.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23160"/>
                <a:gridCol w="1920240"/>
                <a:gridCol w="2194560"/>
                <a:gridCol w="1874520"/>
                <a:gridCol w="1097280"/>
              </a:tblGrid>
              <a:tr h="310896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서식 범주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 · 서식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 · 그리드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구조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 vMerge="1"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
</a:t>
                      </a:r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단락, 인라인 서식,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목록, 코드 하이라이팅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드로잉 도형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머리글·바닥글,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 설정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
</a:t>
                      </a:r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 상자,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발표자 노트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테마 기반 표 스타일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도형, 이미지,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그라디언트, 효과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 마스터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
</a:t>
                      </a:r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A90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 서식,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조건부 서식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병합 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시트, 열 폭,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높이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세 포맷 모두 “Supported” 상태이나, 지원 항목은 README에 열거된 요소를 기준으로 하며 OOXML 전체 기능 집합과 동일하지 않다. 도입 시에는 실제 문서 샘플로 검증할 것을 권장한다.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 분석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포맷별 지원 요소 구성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README에 명시된 지원 항목을 범주별로 집계한 결과다. 포맷마다 강점 범주가 다르다.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965960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20939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98280" y="21214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· 텍스트 서식 중심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3840" y="24048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단락·목록·코드 하이라이팅 등 본문 서식 항목이 가장 많다. 문서형 산출물에 유리하다.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3264408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3392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PPTX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098280" y="3419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· 그래픽 중심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63840" y="37033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도형·이미지·그라디언트·효과가 절반을 차지한다. 시각 요소 재현에 무게를 둔 구성이다.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35240" y="4562856"/>
            <a:ext cx="388620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4690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XLSX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98280" y="4718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· 구조 중심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63840" y="50017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시트·열 폭·행 높이 등 그리드 구조 항목이 중심이며, 그래픽 요소는 대상이 아니다.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집계는 README “Features” 절의 항목을 4개 범주로 분류한 값이며, 기능의 중요도나 완성도를 나타내지 않는다.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plug_r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 rot="480000">
            <a:off x="9326880" y="14173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방법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657600"/>
            <a:ext cx="100584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· CLI · WASM — 동일한 변환 코어를 세 가지 경로로 사용한다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4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라이브러리 — Quick Start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의존성 추가 후, 단일 함수 호출로 변환 결과 바이트를 얻는다.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의존성 선언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40864"/>
            <a:ext cx="4992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"0.4"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기준 표기 · 최신 릴리스는 v0.6.0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최소 변환 코드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032504"/>
            <a:ext cx="4992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한 줄 변환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 = office2pdf::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"report.docx"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).unwrap();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std::fs::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"report.pdf"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&amp;out.pdf)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.unwrap();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12264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4" name="Image 0" descr="assets/ic_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224028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59168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값은 PDF 바이트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10528" y="24963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convert()는 변환 결과 구조체를 반환하며, .pdf 필드가 PDF 바이트 버퍼다. 파일 저장 여부는 호출 측이 결정한다.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32918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3529584"/>
            <a:ext cx="457200" cy="45720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9" name="Image 1" descr="assets/ic_sear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6576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59168" y="3502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포맷 자동 판별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10528" y="39136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기반 API는 확장자로 포맷을 판별한다. 바이트 입력 API에서는 Format 열거형으로 명시한다.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263640" y="470916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92240" y="4946904"/>
            <a:ext cx="457200" cy="45720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4" name="Image 2" descr="assets/ic_shiel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5074920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59168" y="49194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처리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10528" y="53309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예제는 unwrap()을 사용하지만, 서버 코드에서는 Result를 그대로 전파해 요청 단위로 실패를 격리해야 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변환 옵션과 인메모리 변환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ConvertOptions로 용지·방향 등을 지정하고, 파일 시스템을 거치지 않는 경로도 제공한다.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옵션을 지정한 변환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95144"/>
            <a:ext cx="499262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office2pdf::config::{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ConvertOptions, PaperSize,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options = ConvertOptions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paper_size: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(PaperSize::A4),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::default()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바이트 버퍼 기반 인메모리 변환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295144"/>
            <a:ext cx="48554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office2pdf::config::Format;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office2pdf::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convert_bytes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&amp;docx_bytes,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Format::Docx,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&amp;ConvertOptions::default(),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).unwrap();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API 요약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convert(path)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24128" y="5175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입력 · 기본 옵션 적용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48006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convert_with_options(..)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44568" y="5175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입력 · ConvertOptions 지정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48006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convert_bytes(..)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65008" y="5175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입력 · Format 명시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— 설치와 기본 사용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install로 단일 실행 파일을 얻고, 배치 변환까지 한 줄로 처리한다.</a:t>
            </a:r>
            <a:endParaRPr lang="en-US" sz="1350" dirty="0"/>
          </a:p>
        </p:txBody>
      </p:sp>
      <p:pic>
        <p:nvPicPr>
          <p:cNvPr id="5" name="Image 0" descr="assets/ic_terminal_r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0607040" y="548640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020824"/>
            <a:ext cx="5632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office2pdf-cli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262432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— 별도 런타임이나 시스템 패키지가 필요하지 않다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6035040" cy="2788920"/>
          </a:xfrm>
          <a:prstGeom prst="roundRect">
            <a:avLst>
              <a:gd name="adj" fmla="val 1967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3072384"/>
            <a:ext cx="563270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단일 파일 변환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report.docx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출력 경로 지정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report.docx -o output.pdf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디렉터리 단위 배치 변환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*.docx --outdir pdfs/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옵션 조합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slides.pptx --paper a4 --landscape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book.xlsx --sheets "Sheet1,Summary"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49440" y="18745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2093976"/>
            <a:ext cx="438912" cy="43891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3" name="Image 1" descr="assets/ic_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935" y="2216871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26680" y="2075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친화적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196328" y="2441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CLI 규약을 따르므로 셸 스크립트, Makefile, CI 잡에 그대로 삽입할 수 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49440" y="32461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8040" y="3465576"/>
            <a:ext cx="438912" cy="438912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8" name="Image 2" descr="assets/ic_bran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35" y="3588471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26680" y="3447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파이프라인 통합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196328" y="38130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저장소에 커밋이 발생할 때 PDF 산출물을 재생성하는 잡을 구성하기 쉽다.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49440" y="46177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78040" y="4837176"/>
            <a:ext cx="438912" cy="438912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3" name="Image 3" descr="assets/ic_box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35" y="4960071"/>
            <a:ext cx="193121" cy="1931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26680" y="4818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최소화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196328" y="51846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도구를 위해 오피스 스위트를 설치할 필요가 없어, 컨테이너 이미지 구성이 단순해진다.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레퍼런스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옵션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경로, 용지 설정, 포맷별 필터, 폰트 경로, PDF/A 준수 여부를 플래그로 제어한다.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8521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플래그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설명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범위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-o, --output &lt;PATH&gt;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출력 파일 경로 지정 (단일 입력에만 사용)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--outdir &lt;DIR&gt;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배치 변환 시 출력 디렉터리 지정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--paper &lt;SIZE&gt;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용지 크기 — a4 · letter · legal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--landscape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가로 방향(landscape) 강제 적용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--pdf-a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PDF/A-2b 준수 출력 생성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--sheets &lt;NAMES&gt;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변환 대상 시트 필터 (쉼표 구분)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--slides &lt;RANGE&gt;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변환 대상 슬라이드 범위 — 예: 1-5,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E4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--font-path &lt;DIR&gt;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추가 폰트 디렉터리 지정 (반복 지정 가능)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팁 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--slides와 --sheets는 대용량 문서에서 변환 대상을 축소해 처리 시간을 줄이는 데 유용하다. 아카이빙 목적이라면 --pdf-a를 기본 플래그로 고정하는 편이 안전하다.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인터페이스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WebAssembly — 브라우저와 Node.js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피처로 빌드하면 서버 없이 클라이언트에서 변환을 수행할 수 있다.</a:t>
            </a:r>
            <a:endParaRPr lang="en-US" sz="1350" dirty="0"/>
          </a:p>
        </p:txBody>
      </p:sp>
      <p:pic>
        <p:nvPicPr>
          <p:cNvPr id="5" name="Image 0" descr="assets/ic_wasm_r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0607040" y="5486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wasm-pack 빌드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95144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wasm-pack build crates/office2pdf \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--target web --features wasm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JavaScript에서 호출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3575304"/>
            <a:ext cx="508406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init,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convertDocxToPdf, convertToPdf,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BD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'./pkg/office2pdf.js'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bytes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Uint8Array(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file.arrayBuffer());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pdf = convertDocxToPdf(bytes);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37960" y="1828800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1228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함수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0" y="228600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convertToPdf(data, format)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convertDocxToPdf(data)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convertPptxToPdf(data)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convertXlsxToPdf(data)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37947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4050792"/>
            <a:ext cx="402336" cy="402336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7" name="Image 1" descr="assets/ic_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214" y="4163446"/>
            <a:ext cx="177028" cy="1770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78624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외부 유출 없음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278624" y="4178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변환이 클라이언트에서 끝나므로 원본 문서를 서버로 전송하지 않는다. 개인정보·기밀문서 처리에 유리하다.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37960" y="48920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66560" y="5148072"/>
            <a:ext cx="402336" cy="402336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2" name="Image 2" descr="assets/ic_clou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214" y="5260726"/>
            <a:ext cx="177028" cy="1770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78624" y="5001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자원 절감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278624" y="5276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부하가 사용자 단말로 분산되어, 변환 전용 워커 풀을 유지하지 않아도 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폰트 해석 파이프라인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 결과의 재현성은 폰트 해석 순서에서 결정된다. 문서 내부 폰트를 최우선으로 사용한다.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12264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0" descr="assets/ic_font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1762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임베디드 폰트 추출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65960" y="22768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PPTX·DOCX에 임베드된 폰트를 자동으로 추출하고 난독화를 해제(deobfuscate)하여 변환에 사용한다. 원본 작성 환경과 동일한 서체를 얻는 가장 확실한 경로다.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14984" y="2779776"/>
            <a:ext cx="146304" cy="137160"/>
          </a:xfrm>
          <a:prstGeom prst="downArrow">
            <a:avLst/>
          </a:prstGeom>
          <a:solidFill>
            <a:srgbClr val="E2E5E9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2608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163824"/>
            <a:ext cx="457200" cy="45720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pic>
        <p:nvPicPr>
          <p:cNvPr id="15" name="Image 1" descr="assets/ic_apple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322783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6596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Office 폰트 자동 탐색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965960" y="33284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PowerPoint·Word·Excel 앱에 번들된 폰트와 Office 클라우드 폰트 캐시를 자동으로 검색한다. macOS 환경에서는 별도 설정 없이 오피스 기본 서체가 해석된다.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14984" y="3831336"/>
            <a:ext cx="146304" cy="137160"/>
          </a:xfrm>
          <a:prstGeom prst="downArrow">
            <a:avLst/>
          </a:prstGeom>
          <a:solidFill>
            <a:srgbClr val="E2E5E9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397764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4215384"/>
            <a:ext cx="457200" cy="45720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pic>
        <p:nvPicPr>
          <p:cNvPr id="22" name="Image 2" descr="assets/ic_search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427939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596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--font-path 사용자 지정 경로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965960" y="43799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서체나 커스텀 폰트를 사용할 경우에만 필요한 재정의(override) 수단이다. 플래그를 반복 지정해 복수 디렉터리를 등록할 수 있다.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1014984" y="4882896"/>
            <a:ext cx="146304" cy="137160"/>
          </a:xfrm>
          <a:prstGeom prst="downArrow">
            <a:avLst/>
          </a:prstGeom>
          <a:solidFill>
            <a:srgbClr val="E2E5E9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0080" y="50292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68680" y="5266944"/>
            <a:ext cx="457200" cy="457200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868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pic>
        <p:nvPicPr>
          <p:cNvPr id="29" name="Image 3" descr="assets/ic_server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533095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65960" y="5157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폰트 폴백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965960" y="543153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경로에서 해석되지 않은 서체는 시스템 폰트로 폴백한다. 서버 이미지에 필요한 서체를 미리 포함해 두는 것이 재현성 확보에 유리하다.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macOS 환경에서는 오피스 앱 폰트와 클라우드 폰트 캐시가 시스템 폰트보다 먼저 탐색되므로, --font-path는 커스텀 폰트 재정의 용도로만 사용하면 된다.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PDF/A-2b 준수 출력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--pdf-a 플래그 하나로 장기 보존용 아카이빙 규격에 맞춘 PDF를 생성한다.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7" name="Image 0" descr="assets/ic_archiv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261860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PDF/A-2b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19005-2 기반 아카이빙 프로파일. 렌더링에 필요한 자원을 파일 내부에 자기완결적으로 포함하여, 장기간 경과 후에도 동일한 시각적 재현을 보장하는 것을 목표로 한다.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828800"/>
            <a:ext cx="5577840" cy="685800"/>
          </a:xfrm>
          <a:prstGeom prst="roundRect">
            <a:avLst>
              <a:gd name="adj" fmla="val 8000"/>
            </a:avLst>
          </a:prstGeom>
          <a:solidFill>
            <a:srgbClr val="1B1D23"/>
          </a:solidFill>
          <a:ln w="12700">
            <a:solidFill>
              <a:srgbClr val="2D313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44768" y="1975104"/>
            <a:ext cx="5175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office2pdf document.docx --pdf-a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0" y="2578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아카이빙 프로파일 적용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6974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85292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포맷 모두 동일하게 적용되며, 배치 변환에서도 플래그를 그대로 사용할 수 있다. 아카이빙 파이프라인에서는 기본값으로 고정하는 구성을 권장한다.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886200"/>
            <a:ext cx="351129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142232"/>
            <a:ext cx="512064" cy="512064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17" name="Image 1" descr="assets/ic_stam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78" y="4285610"/>
            <a:ext cx="225308" cy="2253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4160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 대응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932688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전자문서 보존, 감사 대응, 공공 조달 산출물 등 보존 규격이 요구되는 영역에서 활용한다.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325112" y="3886200"/>
            <a:ext cx="351129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99432" y="4142232"/>
            <a:ext cx="512064" cy="51206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2" name="Image 2" descr="assets/ic_fo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10" y="4285610"/>
            <a:ext cx="225308" cy="2253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9512" y="4160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임베딩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17720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표시에 필요한 서체를 문서에 포함하므로, 열람 환경에 해당 폰트가 없어도 레이아웃이 유지된다.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10144" y="3886200"/>
            <a:ext cx="351129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84464" y="4142232"/>
            <a:ext cx="512064" cy="512064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27" name="Image 3" descr="assets/ic_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842" y="4285610"/>
            <a:ext cx="225308" cy="2253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24544" y="41605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가독성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302752" y="4800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참조 자원에 의존하지 않아, 시간이 지나도 문서가 동일하게 렌더링될 가능성이 높다.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PDF/A 준수 여부와 검증 등급은 문서 내용과 사용 폰트에 따라 달라질 수 있으므로, 규정 대응 목적이라면 veraPDF 등 검증 도구로 산출물을 확인할 것을 권장한다.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balance_r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 rot="480000">
            <a:off x="9326880" y="14173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검토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657600"/>
            <a:ext cx="100584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특성 비교, 활용 시나리오, 프로젝트 현황과 확인 사항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4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특성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변환 스택 정성 비교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워크로드를 가정한 개념적 비교다. 절대 성능 수치가 아니라 운영 관점의 상대적 특성을 나타낸다.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874520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12280" y="2112264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8" name="Image 0" descr="assets/ic_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22402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9208" y="2075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배포와 기동에서 확실한 우위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30568" y="247802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런타임이 없으므로 이미지 구성, 초기 기동, 권한 설정이 모두 단순해진다. 서버리스·엣지 환경에서 이점이 가장 크게 나타난다.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583680" y="3291840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12280" y="3529584"/>
            <a:ext cx="457200" cy="45720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3" name="Image 1" descr="assets/ic_balanc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6576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79208" y="3493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 커버리지는 검증 대상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30568" y="38953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조판을 직접 구현하는 구조이므로, 복잡한 레이아웃이나 특수 서식은 실제 문서로 확인해야 한다. 기존 스택 대비 커버리지 폭이 좁을 수 있다.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83680" y="4709160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12280" y="4946904"/>
            <a:ext cx="457200" cy="457200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pic>
        <p:nvPicPr>
          <p:cNvPr id="18" name="Image 2" descr="assets/ic_slid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507492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79208" y="4910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기준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830568" y="53126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“배포·운영 단순성”이 우선순위라면 office2pdf, “임의 문서의 최대 재현성”이 우선순위라면 기존 스택 병행을 검토한다.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점수는 각 스택의 일반적 구성에 대한 정성 평가이며, 벤치마크 측정값이 아니다. 실제 도입 판단은 대표 문서 집합에 대한 자체 검증을 근거로 해야 한다.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시나리오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워크로드에 적합한가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“외부 런타임을 둘 수 없는 환경”일수록 이점이 커진다.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70048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7" name="Image 0" descr="assets/ic_clou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852" y="2243572"/>
            <a:ext cx="249448" cy="249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788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문서 변환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람다/함수 환경에 단일 바이너리만 포함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콜드 스타트에 오피스 스위트 기동 없음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용량 제약 대응에 유리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70048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5032" y="2084832"/>
            <a:ext cx="566928" cy="566928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2" name="Image 1" descr="assets/ic_indust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772" y="2243572"/>
            <a:ext cx="249448" cy="249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788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문서 파이프라인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0332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템플릿을 야간 배치로 PDF 확정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CI에서 문서 산출물 자동 재생성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--pdf-a로 보존 규격 일괄 적용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828800"/>
            <a:ext cx="2670048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177800" dist="25400" dir="5400000">
              <a:srgbClr val="7C828C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084832"/>
            <a:ext cx="566928" cy="566928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17" name="Image 2" descr="assets/ic_deskto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692" y="2243572"/>
            <a:ext cx="249448" cy="249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788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 애플리케이션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9224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앱에 라이브러리로 직접 임베드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환경에 오피스 설치 요구 없음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동작 보장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1828800"/>
            <a:ext cx="2670048" cy="39319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62872" y="2084832"/>
            <a:ext cx="566928" cy="566928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22" name="Image 3" descr="assets/ic_glob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612" y="2243572"/>
            <a:ext cx="249448" cy="249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62872" y="2788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클라이언트 변환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81160" y="347472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WASM으로 단말에서 변환 수행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원본을 서버로 전송하지 않음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부하를 클라이언트로 분산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현황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 지표와 도입 시 확인 사항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활발히 개발되는 단일 언어 프로젝트다. 도입 전 세 가지 항목을 점검할 것을 권장한다.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792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구성 (%)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2057400"/>
          <a:ext cx="26517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515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
</a:t>
            </a:r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11480" y="36393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99.5%    </a:t>
            </a:r>
            <a:pPr algn="ctr" indent="0" marL="0">
              <a:buNone/>
            </a:pPr>
            <a:r>
              <a:rPr lang="en-US" sz="1000" dirty="0">
                <a:solidFill>
                  <a:srgbClr val="B9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0.5%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2057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v0.6.0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520440" y="26883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릴리스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9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2057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577840" y="26883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릴리스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43800" y="2057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635240" y="26883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01200" y="20574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38360" y="2212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E4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692640" y="26883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29000" y="33467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저장소 지표는 2026년 7월 기준 근사치이며, 라이선스는 Apache-2.0이다.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895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시 확인 사항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424281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4361688"/>
            <a:ext cx="365760" cy="36576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pic>
        <p:nvPicPr>
          <p:cNvPr id="25" name="Image 0" descr="assets/ic_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4464101"/>
            <a:ext cx="160934" cy="1609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71600" y="4261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문서 집합으로 회귀 검증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754880" y="426110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 문서 20~50건을 표본으로 PDF 산출물을 육안·자동 비교한다. 서식 커버리지 확인의 가장 빠른 방법이다.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0080" y="490118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68680" y="5020056"/>
            <a:ext cx="365760" cy="36576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30" name="Image 1" descr="assets/ic_fo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5122469"/>
            <a:ext cx="160934" cy="16093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71600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 배포 정책 확정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754880" y="491947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이미지에 포함할 서체 목록과 --font-path 정책을 표준화한다. 폰트 누락은 가장 흔한 품질 저하 원인이다.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40080" y="555955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68680" y="5678424"/>
            <a:ext cx="365760" cy="365760"/>
          </a:xfrm>
          <a:prstGeom prst="ellipse">
            <a:avLst/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</p:spPr>
      </p:sp>
      <p:pic>
        <p:nvPicPr>
          <p:cNvPr id="35" name="Image 2" descr="assets/ic_ta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5780837"/>
            <a:ext cx="160934" cy="16093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71600" y="5577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고정과 갱신 절차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754880" y="55778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버전을 고정하고, 릴리스 노트를 확인한 뒤 갱신하는 절차를 둔다. 서식 지원 범위가 릴리스마다 확장되기 때문이다.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github_w.png">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10149840" y="507492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10972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무거운 런타임 없이,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문서 변환을 코드 안으로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734056"/>
            <a:ext cx="347472" cy="34747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런타임 0개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29718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· Chromium · Docker 없이 단일 바이너리로 DOCX·XLSX·PPTX를 변환한다.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511296"/>
            <a:ext cx="347472" cy="34747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통합 경로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25880" y="37490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라이브러리, CLI, WebAssembly 중 환경에 맞는 지점을 선택할 수 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288536"/>
            <a:ext cx="347472" cy="347472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258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친화적 세부 기능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325880" y="45262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C5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 폰트 자동 추출, macOS 오피스 폰트 탐색, PDF/A-2b 아카이빙을 기본 제공한다.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8680" y="5120640"/>
            <a:ext cx="8412480" cy="0"/>
          </a:xfrm>
          <a:prstGeom prst="line">
            <a:avLst/>
          </a:prstGeom>
          <a:noFill/>
          <a:ln w="12700">
            <a:solidFill>
              <a:srgbClr val="4A4A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303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</a:t>
            </a:r>
            <a:endParaRPr lang="en-US" sz="1050" dirty="0"/>
          </a:p>
        </p:txBody>
      </p:sp>
      <p:sp>
        <p:nvSpPr>
          <p:cNvPr id="19" name="Text 16">
            <a:hlinkClick r:id="rId3" tooltip="GitHub 저장소"/>
          </p:cNvPr>
          <p:cNvSpPr/>
          <p:nvPr/>
        </p:nvSpPr>
        <p:spPr>
          <a:xfrm>
            <a:off x="822960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GitHub 저장소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github.com/developer0hye/office2pdf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0" y="5303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crates.io 패키지</a:t>
            </a:r>
            <a:endParaRPr lang="en-US" sz="1050" dirty="0"/>
          </a:p>
        </p:txBody>
      </p:sp>
      <p:sp>
        <p:nvSpPr>
          <p:cNvPr id="21" name="Text 18">
            <a:hlinkClick r:id="rId4" tooltip="crates.io 패키지"/>
          </p:cNvPr>
          <p:cNvSpPr/>
          <p:nvPr/>
        </p:nvSpPr>
        <p:spPr>
          <a:xfrm>
            <a:off x="3840480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crates.io 패키지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crates.io/crates/office2pdf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53035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문서</a:t>
            </a:r>
            <a:endParaRPr lang="en-US" sz="1050" dirty="0"/>
          </a:p>
        </p:txBody>
      </p:sp>
      <p:sp>
        <p:nvSpPr>
          <p:cNvPr id="23" name="Text 20">
            <a:hlinkClick r:id="rId5" tooltip="API 문서"/>
          </p:cNvPr>
          <p:cNvSpPr/>
          <p:nvPr/>
        </p:nvSpPr>
        <p:spPr>
          <a:xfrm>
            <a:off x="6858000" y="5541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E897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API 문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docs.rs/office2pdf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License · 조판 백엔드: Typst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office2pdf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office2pdf 소개</dc:title>
  <dc:subject>Pure-Rust Office to PDF conversion engine</dc:subject>
  <dc:creator>developer0hye</dc:creator>
  <cp:lastModifiedBy>developer0hye</cp:lastModifiedBy>
  <cp:revision>1</cp:revision>
  <dcterms:created xsi:type="dcterms:W3CDTF">2026-07-27T15:23:46Z</dcterms:created>
  <dcterms:modified xsi:type="dcterms:W3CDTF">2026-07-27T15:23:46Z</dcterms:modified>
</cp:coreProperties>
</file>